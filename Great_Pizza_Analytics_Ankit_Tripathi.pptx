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5" r:id="rId8"/>
    <p:sldId id="266" r:id="rId9"/>
    <p:sldId id="261" r:id="rId10"/>
    <p:sldId id="268" r:id="rId11"/>
    <p:sldId id="269" r:id="rId12"/>
    <p:sldId id="270" r:id="rId13"/>
    <p:sldId id="271" r:id="rId14"/>
    <p:sldId id="273" r:id="rId15"/>
    <p:sldId id="272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19047B-30AE-445D-A359-5142E0A09157}" type="doc">
      <dgm:prSet loTypeId="urn:microsoft.com/office/officeart/2005/8/layout/defaul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1D6990B-C4E6-44C7-A985-9BFE06D14086}">
      <dgm:prSet/>
      <dgm:spPr/>
      <dgm:t>
        <a:bodyPr/>
        <a:lstStyle/>
        <a:p>
          <a:r>
            <a:rPr lang="en-US"/>
            <a:t>Filtering: WHERE, LIKE, IN, BETWEEN</a:t>
          </a:r>
        </a:p>
      </dgm:t>
    </dgm:pt>
    <dgm:pt modelId="{305DC528-CB97-4842-BD65-3F7B7A77D5E1}" type="parTrans" cxnId="{96473C64-EDA4-42E6-BFD5-D6A121F1EE18}">
      <dgm:prSet/>
      <dgm:spPr/>
      <dgm:t>
        <a:bodyPr/>
        <a:lstStyle/>
        <a:p>
          <a:endParaRPr lang="en-US"/>
        </a:p>
      </dgm:t>
    </dgm:pt>
    <dgm:pt modelId="{BA7BAC83-BAE5-4E82-A13E-82F0B52E4550}" type="sibTrans" cxnId="{96473C64-EDA4-42E6-BFD5-D6A121F1EE18}">
      <dgm:prSet/>
      <dgm:spPr/>
      <dgm:t>
        <a:bodyPr/>
        <a:lstStyle/>
        <a:p>
          <a:endParaRPr lang="en-US"/>
        </a:p>
      </dgm:t>
    </dgm:pt>
    <dgm:pt modelId="{4DAB1993-A058-403E-BBE1-06516238B98D}">
      <dgm:prSet/>
      <dgm:spPr/>
      <dgm:t>
        <a:bodyPr/>
        <a:lstStyle/>
        <a:p>
          <a:r>
            <a:rPr lang="en-US"/>
            <a:t>Aggregations: SUM, COUNT, AVG, GROUP BY, HAVING</a:t>
          </a:r>
        </a:p>
      </dgm:t>
    </dgm:pt>
    <dgm:pt modelId="{F529ED3E-C42F-4AB5-8B5E-D7EB4E50B19B}" type="parTrans" cxnId="{5B07673E-AD8E-45CC-8EF7-E84B12B1DBB1}">
      <dgm:prSet/>
      <dgm:spPr/>
      <dgm:t>
        <a:bodyPr/>
        <a:lstStyle/>
        <a:p>
          <a:endParaRPr lang="en-US"/>
        </a:p>
      </dgm:t>
    </dgm:pt>
    <dgm:pt modelId="{BD5B80D0-CAFD-4432-ADAA-24FF9C480B88}" type="sibTrans" cxnId="{5B07673E-AD8E-45CC-8EF7-E84B12B1DBB1}">
      <dgm:prSet/>
      <dgm:spPr/>
      <dgm:t>
        <a:bodyPr/>
        <a:lstStyle/>
        <a:p>
          <a:endParaRPr lang="en-US"/>
        </a:p>
      </dgm:t>
    </dgm:pt>
    <dgm:pt modelId="{B59DF430-D0B8-491D-9ED4-AFA230C6BFA9}">
      <dgm:prSet/>
      <dgm:spPr/>
      <dgm:t>
        <a:bodyPr/>
        <a:lstStyle/>
        <a:p>
          <a:r>
            <a:rPr lang="en-US"/>
            <a:t>Joins: INNER JOIN, LEFT JOIN, RIGHT JOIN, SELF JOIN</a:t>
          </a:r>
        </a:p>
      </dgm:t>
    </dgm:pt>
    <dgm:pt modelId="{D4A1B834-A25A-421D-8EA7-E40280B28D01}" type="parTrans" cxnId="{2B51A137-CCE3-43F2-80E8-CF68077AE5AF}">
      <dgm:prSet/>
      <dgm:spPr/>
      <dgm:t>
        <a:bodyPr/>
        <a:lstStyle/>
        <a:p>
          <a:endParaRPr lang="en-US"/>
        </a:p>
      </dgm:t>
    </dgm:pt>
    <dgm:pt modelId="{66730A45-C686-4AF5-82A7-63F449585AD8}" type="sibTrans" cxnId="{2B51A137-CCE3-43F2-80E8-CF68077AE5AF}">
      <dgm:prSet/>
      <dgm:spPr/>
      <dgm:t>
        <a:bodyPr/>
        <a:lstStyle/>
        <a:p>
          <a:endParaRPr lang="en-US"/>
        </a:p>
      </dgm:t>
    </dgm:pt>
    <dgm:pt modelId="{B7CB2F93-E8EA-4FFE-881A-EC6FA8740EC2}">
      <dgm:prSet/>
      <dgm:spPr/>
      <dgm:t>
        <a:bodyPr/>
        <a:lstStyle/>
        <a:p>
          <a:r>
            <a:rPr lang="en-US"/>
            <a:t>Data Cleaning: DISTINCT, COALESCE, NULL Handling</a:t>
          </a:r>
        </a:p>
      </dgm:t>
    </dgm:pt>
    <dgm:pt modelId="{F64469B7-B99E-4888-9423-F63ABD2F179D}" type="parTrans" cxnId="{B94F59D7-DF0D-4864-9099-A5F43E0A29E1}">
      <dgm:prSet/>
      <dgm:spPr/>
      <dgm:t>
        <a:bodyPr/>
        <a:lstStyle/>
        <a:p>
          <a:endParaRPr lang="en-US"/>
        </a:p>
      </dgm:t>
    </dgm:pt>
    <dgm:pt modelId="{1D464222-DF38-4A93-86D2-79BEB03404C7}" type="sibTrans" cxnId="{B94F59D7-DF0D-4864-9099-A5F43E0A29E1}">
      <dgm:prSet/>
      <dgm:spPr/>
      <dgm:t>
        <a:bodyPr/>
        <a:lstStyle/>
        <a:p>
          <a:endParaRPr lang="en-US"/>
        </a:p>
      </dgm:t>
    </dgm:pt>
    <dgm:pt modelId="{72FBD498-1470-4A17-9726-60C39B54C5C7}" type="pres">
      <dgm:prSet presAssocID="{2519047B-30AE-445D-A359-5142E0A09157}" presName="diagram" presStyleCnt="0">
        <dgm:presLayoutVars>
          <dgm:dir/>
          <dgm:resizeHandles val="exact"/>
        </dgm:presLayoutVars>
      </dgm:prSet>
      <dgm:spPr/>
    </dgm:pt>
    <dgm:pt modelId="{08DCC012-E70C-40A3-937D-4C0788FD6B61}" type="pres">
      <dgm:prSet presAssocID="{D1D6990B-C4E6-44C7-A985-9BFE06D14086}" presName="node" presStyleLbl="node1" presStyleIdx="0" presStyleCnt="4">
        <dgm:presLayoutVars>
          <dgm:bulletEnabled val="1"/>
        </dgm:presLayoutVars>
      </dgm:prSet>
      <dgm:spPr/>
    </dgm:pt>
    <dgm:pt modelId="{FD979B1F-30A4-4ECB-9F9E-1BE6DD3E58E5}" type="pres">
      <dgm:prSet presAssocID="{BA7BAC83-BAE5-4E82-A13E-82F0B52E4550}" presName="sibTrans" presStyleCnt="0"/>
      <dgm:spPr/>
    </dgm:pt>
    <dgm:pt modelId="{2F06FCCB-F4DC-4F5A-AE86-99AA3A2325D6}" type="pres">
      <dgm:prSet presAssocID="{4DAB1993-A058-403E-BBE1-06516238B98D}" presName="node" presStyleLbl="node1" presStyleIdx="1" presStyleCnt="4">
        <dgm:presLayoutVars>
          <dgm:bulletEnabled val="1"/>
        </dgm:presLayoutVars>
      </dgm:prSet>
      <dgm:spPr/>
    </dgm:pt>
    <dgm:pt modelId="{2D1439CE-A126-4E07-BC67-3AD9DE0480EF}" type="pres">
      <dgm:prSet presAssocID="{BD5B80D0-CAFD-4432-ADAA-24FF9C480B88}" presName="sibTrans" presStyleCnt="0"/>
      <dgm:spPr/>
    </dgm:pt>
    <dgm:pt modelId="{212A6680-63FD-4130-A95E-4ABA278E4AF9}" type="pres">
      <dgm:prSet presAssocID="{B59DF430-D0B8-491D-9ED4-AFA230C6BFA9}" presName="node" presStyleLbl="node1" presStyleIdx="2" presStyleCnt="4">
        <dgm:presLayoutVars>
          <dgm:bulletEnabled val="1"/>
        </dgm:presLayoutVars>
      </dgm:prSet>
      <dgm:spPr/>
    </dgm:pt>
    <dgm:pt modelId="{1E9DAB5F-A936-4189-85EC-7313E45857BF}" type="pres">
      <dgm:prSet presAssocID="{66730A45-C686-4AF5-82A7-63F449585AD8}" presName="sibTrans" presStyleCnt="0"/>
      <dgm:spPr/>
    </dgm:pt>
    <dgm:pt modelId="{16841B25-04C4-4A0D-81C6-4D41918C892B}" type="pres">
      <dgm:prSet presAssocID="{B7CB2F93-E8EA-4FFE-881A-EC6FA8740EC2}" presName="node" presStyleLbl="node1" presStyleIdx="3" presStyleCnt="4">
        <dgm:presLayoutVars>
          <dgm:bulletEnabled val="1"/>
        </dgm:presLayoutVars>
      </dgm:prSet>
      <dgm:spPr/>
    </dgm:pt>
  </dgm:ptLst>
  <dgm:cxnLst>
    <dgm:cxn modelId="{0BD92A0D-D9DE-48B9-BD5E-F772E0E4E654}" type="presOf" srcId="{D1D6990B-C4E6-44C7-A985-9BFE06D14086}" destId="{08DCC012-E70C-40A3-937D-4C0788FD6B61}" srcOrd="0" destOrd="0" presId="urn:microsoft.com/office/officeart/2005/8/layout/default"/>
    <dgm:cxn modelId="{2B51A137-CCE3-43F2-80E8-CF68077AE5AF}" srcId="{2519047B-30AE-445D-A359-5142E0A09157}" destId="{B59DF430-D0B8-491D-9ED4-AFA230C6BFA9}" srcOrd="2" destOrd="0" parTransId="{D4A1B834-A25A-421D-8EA7-E40280B28D01}" sibTransId="{66730A45-C686-4AF5-82A7-63F449585AD8}"/>
    <dgm:cxn modelId="{5B07673E-AD8E-45CC-8EF7-E84B12B1DBB1}" srcId="{2519047B-30AE-445D-A359-5142E0A09157}" destId="{4DAB1993-A058-403E-BBE1-06516238B98D}" srcOrd="1" destOrd="0" parTransId="{F529ED3E-C42F-4AB5-8B5E-D7EB4E50B19B}" sibTransId="{BD5B80D0-CAFD-4432-ADAA-24FF9C480B88}"/>
    <dgm:cxn modelId="{71D39C42-EDF1-4B92-AF8B-67CE7BEA2AFB}" type="presOf" srcId="{2519047B-30AE-445D-A359-5142E0A09157}" destId="{72FBD498-1470-4A17-9726-60C39B54C5C7}" srcOrd="0" destOrd="0" presId="urn:microsoft.com/office/officeart/2005/8/layout/default"/>
    <dgm:cxn modelId="{96473C64-EDA4-42E6-BFD5-D6A121F1EE18}" srcId="{2519047B-30AE-445D-A359-5142E0A09157}" destId="{D1D6990B-C4E6-44C7-A985-9BFE06D14086}" srcOrd="0" destOrd="0" parTransId="{305DC528-CB97-4842-BD65-3F7B7A77D5E1}" sibTransId="{BA7BAC83-BAE5-4E82-A13E-82F0B52E4550}"/>
    <dgm:cxn modelId="{94DD6C75-4294-4668-9D69-AEA637978593}" type="presOf" srcId="{B59DF430-D0B8-491D-9ED4-AFA230C6BFA9}" destId="{212A6680-63FD-4130-A95E-4ABA278E4AF9}" srcOrd="0" destOrd="0" presId="urn:microsoft.com/office/officeart/2005/8/layout/default"/>
    <dgm:cxn modelId="{A54FAA76-8DBF-4C39-9884-2EA3C8976944}" type="presOf" srcId="{4DAB1993-A058-403E-BBE1-06516238B98D}" destId="{2F06FCCB-F4DC-4F5A-AE86-99AA3A2325D6}" srcOrd="0" destOrd="0" presId="urn:microsoft.com/office/officeart/2005/8/layout/default"/>
    <dgm:cxn modelId="{307898C3-368A-4C10-8358-377F9059EAEE}" type="presOf" srcId="{B7CB2F93-E8EA-4FFE-881A-EC6FA8740EC2}" destId="{16841B25-04C4-4A0D-81C6-4D41918C892B}" srcOrd="0" destOrd="0" presId="urn:microsoft.com/office/officeart/2005/8/layout/default"/>
    <dgm:cxn modelId="{B94F59D7-DF0D-4864-9099-A5F43E0A29E1}" srcId="{2519047B-30AE-445D-A359-5142E0A09157}" destId="{B7CB2F93-E8EA-4FFE-881A-EC6FA8740EC2}" srcOrd="3" destOrd="0" parTransId="{F64469B7-B99E-4888-9423-F63ABD2F179D}" sibTransId="{1D464222-DF38-4A93-86D2-79BEB03404C7}"/>
    <dgm:cxn modelId="{6A97AEE0-9817-4493-8008-B4474FA220B4}" type="presParOf" srcId="{72FBD498-1470-4A17-9726-60C39B54C5C7}" destId="{08DCC012-E70C-40A3-937D-4C0788FD6B61}" srcOrd="0" destOrd="0" presId="urn:microsoft.com/office/officeart/2005/8/layout/default"/>
    <dgm:cxn modelId="{64535F66-5978-498D-8C4E-01B27BC4C794}" type="presParOf" srcId="{72FBD498-1470-4A17-9726-60C39B54C5C7}" destId="{FD979B1F-30A4-4ECB-9F9E-1BE6DD3E58E5}" srcOrd="1" destOrd="0" presId="urn:microsoft.com/office/officeart/2005/8/layout/default"/>
    <dgm:cxn modelId="{1146AB22-999A-41C8-A2F7-C346356849C5}" type="presParOf" srcId="{72FBD498-1470-4A17-9726-60C39B54C5C7}" destId="{2F06FCCB-F4DC-4F5A-AE86-99AA3A2325D6}" srcOrd="2" destOrd="0" presId="urn:microsoft.com/office/officeart/2005/8/layout/default"/>
    <dgm:cxn modelId="{EE7122A5-8AA2-4229-A8EC-D6DC4A7C9DE9}" type="presParOf" srcId="{72FBD498-1470-4A17-9726-60C39B54C5C7}" destId="{2D1439CE-A126-4E07-BC67-3AD9DE0480EF}" srcOrd="3" destOrd="0" presId="urn:microsoft.com/office/officeart/2005/8/layout/default"/>
    <dgm:cxn modelId="{A011F920-6A19-4DE9-8430-351C48DCB1B4}" type="presParOf" srcId="{72FBD498-1470-4A17-9726-60C39B54C5C7}" destId="{212A6680-63FD-4130-A95E-4ABA278E4AF9}" srcOrd="4" destOrd="0" presId="urn:microsoft.com/office/officeart/2005/8/layout/default"/>
    <dgm:cxn modelId="{026D1B45-4E71-46F1-B242-11969C27D13E}" type="presParOf" srcId="{72FBD498-1470-4A17-9726-60C39B54C5C7}" destId="{1E9DAB5F-A936-4189-85EC-7313E45857BF}" srcOrd="5" destOrd="0" presId="urn:microsoft.com/office/officeart/2005/8/layout/default"/>
    <dgm:cxn modelId="{9A46EA0C-AEB2-420B-94C2-BA6286226950}" type="presParOf" srcId="{72FBD498-1470-4A17-9726-60C39B54C5C7}" destId="{16841B25-04C4-4A0D-81C6-4D41918C892B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CC196A3-9768-48B3-A5E0-1C4EC8D31CC6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04228B1-939C-4F49-8FED-C26CA9461D18}">
      <dgm:prSet/>
      <dgm:spPr/>
      <dgm:t>
        <a:bodyPr/>
        <a:lstStyle/>
        <a:p>
          <a:r>
            <a:rPr lang="en-US"/>
            <a:t>• Identify unique pizza categories</a:t>
          </a:r>
        </a:p>
      </dgm:t>
    </dgm:pt>
    <dgm:pt modelId="{D6DDE34C-ACBC-4EF4-A083-4FB369758B37}" type="parTrans" cxnId="{34144AE6-C65C-422D-A32D-D769B9C4B39E}">
      <dgm:prSet/>
      <dgm:spPr/>
      <dgm:t>
        <a:bodyPr/>
        <a:lstStyle/>
        <a:p>
          <a:endParaRPr lang="en-US"/>
        </a:p>
      </dgm:t>
    </dgm:pt>
    <dgm:pt modelId="{32DBFB1E-BACA-4884-B30C-3C938D5A8651}" type="sibTrans" cxnId="{34144AE6-C65C-422D-A32D-D769B9C4B39E}">
      <dgm:prSet/>
      <dgm:spPr/>
      <dgm:t>
        <a:bodyPr/>
        <a:lstStyle/>
        <a:p>
          <a:endParaRPr lang="en-US"/>
        </a:p>
      </dgm:t>
    </dgm:pt>
    <dgm:pt modelId="{30285106-E1FA-462A-99CA-0AAD5F19407D}">
      <dgm:prSet/>
      <dgm:spPr/>
      <dgm:t>
        <a:bodyPr/>
        <a:lstStyle/>
        <a:p>
          <a:r>
            <a:rPr lang="en-US"/>
            <a:t>• Cleanup NULL ingredients using COALESCE</a:t>
          </a:r>
        </a:p>
      </dgm:t>
    </dgm:pt>
    <dgm:pt modelId="{1C8E3BB5-482A-42CD-81CE-64D14D7D5DE7}" type="parTrans" cxnId="{DC164FDB-777B-42C9-9570-6DC7AFFA9BC6}">
      <dgm:prSet/>
      <dgm:spPr/>
      <dgm:t>
        <a:bodyPr/>
        <a:lstStyle/>
        <a:p>
          <a:endParaRPr lang="en-US"/>
        </a:p>
      </dgm:t>
    </dgm:pt>
    <dgm:pt modelId="{4F983C3C-21D3-4C65-A2CE-9A1556B98530}" type="sibTrans" cxnId="{DC164FDB-777B-42C9-9570-6DC7AFFA9BC6}">
      <dgm:prSet/>
      <dgm:spPr/>
      <dgm:t>
        <a:bodyPr/>
        <a:lstStyle/>
        <a:p>
          <a:endParaRPr lang="en-US"/>
        </a:p>
      </dgm:t>
    </dgm:pt>
    <dgm:pt modelId="{4983EE74-B0C4-43B2-A04F-614722D37CC6}">
      <dgm:prSet/>
      <dgm:spPr/>
      <dgm:t>
        <a:bodyPr/>
        <a:lstStyle/>
        <a:p>
          <a:r>
            <a:rPr lang="en-US"/>
            <a:t>• Find pizzas missing prices</a:t>
          </a:r>
        </a:p>
      </dgm:t>
    </dgm:pt>
    <dgm:pt modelId="{0496901B-FDBE-4D8E-9169-545E5A3B2805}" type="parTrans" cxnId="{15D84580-7E11-4C96-AF77-94D50DFB6491}">
      <dgm:prSet/>
      <dgm:spPr/>
      <dgm:t>
        <a:bodyPr/>
        <a:lstStyle/>
        <a:p>
          <a:endParaRPr lang="en-US"/>
        </a:p>
      </dgm:t>
    </dgm:pt>
    <dgm:pt modelId="{37D2FAF5-9546-42CA-909F-0210FFD2E807}" type="sibTrans" cxnId="{15D84580-7E11-4C96-AF77-94D50DFB6491}">
      <dgm:prSet/>
      <dgm:spPr/>
      <dgm:t>
        <a:bodyPr/>
        <a:lstStyle/>
        <a:p>
          <a:endParaRPr lang="en-US"/>
        </a:p>
      </dgm:t>
    </dgm:pt>
    <dgm:pt modelId="{273AEEFD-8E59-401B-9E4B-73B807F44918}" type="pres">
      <dgm:prSet presAssocID="{2CC196A3-9768-48B3-A5E0-1C4EC8D31CC6}" presName="linear" presStyleCnt="0">
        <dgm:presLayoutVars>
          <dgm:animLvl val="lvl"/>
          <dgm:resizeHandles val="exact"/>
        </dgm:presLayoutVars>
      </dgm:prSet>
      <dgm:spPr/>
    </dgm:pt>
    <dgm:pt modelId="{42C46C61-DA3B-49CF-9B47-DA163BC765D7}" type="pres">
      <dgm:prSet presAssocID="{504228B1-939C-4F49-8FED-C26CA9461D1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C288D11-E74D-4C0C-8F4C-08CC97AF1176}" type="pres">
      <dgm:prSet presAssocID="{32DBFB1E-BACA-4884-B30C-3C938D5A8651}" presName="spacer" presStyleCnt="0"/>
      <dgm:spPr/>
    </dgm:pt>
    <dgm:pt modelId="{F7EF2C8B-5CE5-4367-BCC9-5248F0990C9C}" type="pres">
      <dgm:prSet presAssocID="{30285106-E1FA-462A-99CA-0AAD5F19407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15853A5-BF0C-4D4F-B1A1-7756F5146D65}" type="pres">
      <dgm:prSet presAssocID="{4F983C3C-21D3-4C65-A2CE-9A1556B98530}" presName="spacer" presStyleCnt="0"/>
      <dgm:spPr/>
    </dgm:pt>
    <dgm:pt modelId="{79CB226F-FEA1-4603-A3F1-6DEBCDAB8EDE}" type="pres">
      <dgm:prSet presAssocID="{4983EE74-B0C4-43B2-A04F-614722D37CC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D177B1A-3692-42C4-BB5D-F3C31362B3FB}" type="presOf" srcId="{2CC196A3-9768-48B3-A5E0-1C4EC8D31CC6}" destId="{273AEEFD-8E59-401B-9E4B-73B807F44918}" srcOrd="0" destOrd="0" presId="urn:microsoft.com/office/officeart/2005/8/layout/vList2"/>
    <dgm:cxn modelId="{1D57FB66-A380-4B40-9684-1941110833CA}" type="presOf" srcId="{4983EE74-B0C4-43B2-A04F-614722D37CC6}" destId="{79CB226F-FEA1-4603-A3F1-6DEBCDAB8EDE}" srcOrd="0" destOrd="0" presId="urn:microsoft.com/office/officeart/2005/8/layout/vList2"/>
    <dgm:cxn modelId="{15D84580-7E11-4C96-AF77-94D50DFB6491}" srcId="{2CC196A3-9768-48B3-A5E0-1C4EC8D31CC6}" destId="{4983EE74-B0C4-43B2-A04F-614722D37CC6}" srcOrd="2" destOrd="0" parTransId="{0496901B-FDBE-4D8E-9169-545E5A3B2805}" sibTransId="{37D2FAF5-9546-42CA-909F-0210FFD2E807}"/>
    <dgm:cxn modelId="{DC164FDB-777B-42C9-9570-6DC7AFFA9BC6}" srcId="{2CC196A3-9768-48B3-A5E0-1C4EC8D31CC6}" destId="{30285106-E1FA-462A-99CA-0AAD5F19407D}" srcOrd="1" destOrd="0" parTransId="{1C8E3BB5-482A-42CD-81CE-64D14D7D5DE7}" sibTransId="{4F983C3C-21D3-4C65-A2CE-9A1556B98530}"/>
    <dgm:cxn modelId="{6196FBE5-05FA-4740-A5E7-7F1FC96D15BB}" type="presOf" srcId="{30285106-E1FA-462A-99CA-0AAD5F19407D}" destId="{F7EF2C8B-5CE5-4367-BCC9-5248F0990C9C}" srcOrd="0" destOrd="0" presId="urn:microsoft.com/office/officeart/2005/8/layout/vList2"/>
    <dgm:cxn modelId="{34144AE6-C65C-422D-A32D-D769B9C4B39E}" srcId="{2CC196A3-9768-48B3-A5E0-1C4EC8D31CC6}" destId="{504228B1-939C-4F49-8FED-C26CA9461D18}" srcOrd="0" destOrd="0" parTransId="{D6DDE34C-ACBC-4EF4-A083-4FB369758B37}" sibTransId="{32DBFB1E-BACA-4884-B30C-3C938D5A8651}"/>
    <dgm:cxn modelId="{48A806F5-15DD-45DC-8AC2-37B567B48BE6}" type="presOf" srcId="{504228B1-939C-4F49-8FED-C26CA9461D18}" destId="{42C46C61-DA3B-49CF-9B47-DA163BC765D7}" srcOrd="0" destOrd="0" presId="urn:microsoft.com/office/officeart/2005/8/layout/vList2"/>
    <dgm:cxn modelId="{6E52795A-9713-41D1-8E07-554BC5713D71}" type="presParOf" srcId="{273AEEFD-8E59-401B-9E4B-73B807F44918}" destId="{42C46C61-DA3B-49CF-9B47-DA163BC765D7}" srcOrd="0" destOrd="0" presId="urn:microsoft.com/office/officeart/2005/8/layout/vList2"/>
    <dgm:cxn modelId="{56B71597-9978-4F2C-BE92-CC4E9285540B}" type="presParOf" srcId="{273AEEFD-8E59-401B-9E4B-73B807F44918}" destId="{2C288D11-E74D-4C0C-8F4C-08CC97AF1176}" srcOrd="1" destOrd="0" presId="urn:microsoft.com/office/officeart/2005/8/layout/vList2"/>
    <dgm:cxn modelId="{2B930B77-8C5B-4B05-9FD1-40A89AB62DF9}" type="presParOf" srcId="{273AEEFD-8E59-401B-9E4B-73B807F44918}" destId="{F7EF2C8B-5CE5-4367-BCC9-5248F0990C9C}" srcOrd="2" destOrd="0" presId="urn:microsoft.com/office/officeart/2005/8/layout/vList2"/>
    <dgm:cxn modelId="{AB4FE6E6-F794-46D3-9013-FBBD0197C3AA}" type="presParOf" srcId="{273AEEFD-8E59-401B-9E4B-73B807F44918}" destId="{F15853A5-BF0C-4D4F-B1A1-7756F5146D65}" srcOrd="3" destOrd="0" presId="urn:microsoft.com/office/officeart/2005/8/layout/vList2"/>
    <dgm:cxn modelId="{7563DDFE-8A5B-46DA-99F9-9AAD7AC9D8A0}" type="presParOf" srcId="{273AEEFD-8E59-401B-9E4B-73B807F44918}" destId="{79CB226F-FEA1-4603-A3F1-6DEBCDAB8ED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DCC012-E70C-40A3-937D-4C0788FD6B61}">
      <dsp:nvSpPr>
        <dsp:cNvPr id="0" name=""/>
        <dsp:cNvSpPr/>
      </dsp:nvSpPr>
      <dsp:spPr>
        <a:xfrm>
          <a:off x="610" y="1179680"/>
          <a:ext cx="2380430" cy="1428258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Filtering: WHERE, LIKE, IN, BETWEEN</a:t>
          </a:r>
        </a:p>
      </dsp:txBody>
      <dsp:txXfrm>
        <a:off x="610" y="1179680"/>
        <a:ext cx="2380430" cy="1428258"/>
      </dsp:txXfrm>
    </dsp:sp>
    <dsp:sp modelId="{2F06FCCB-F4DC-4F5A-AE86-99AA3A2325D6}">
      <dsp:nvSpPr>
        <dsp:cNvPr id="0" name=""/>
        <dsp:cNvSpPr/>
      </dsp:nvSpPr>
      <dsp:spPr>
        <a:xfrm>
          <a:off x="2619083" y="1179680"/>
          <a:ext cx="2380430" cy="1428258"/>
        </a:xfrm>
        <a:prstGeom prst="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Aggregations: SUM, COUNT, AVG, GROUP BY, HAVING</a:t>
          </a:r>
        </a:p>
      </dsp:txBody>
      <dsp:txXfrm>
        <a:off x="2619083" y="1179680"/>
        <a:ext cx="2380430" cy="1428258"/>
      </dsp:txXfrm>
    </dsp:sp>
    <dsp:sp modelId="{212A6680-63FD-4130-A95E-4ABA278E4AF9}">
      <dsp:nvSpPr>
        <dsp:cNvPr id="0" name=""/>
        <dsp:cNvSpPr/>
      </dsp:nvSpPr>
      <dsp:spPr>
        <a:xfrm>
          <a:off x="610" y="2845981"/>
          <a:ext cx="2380430" cy="1428258"/>
        </a:xfrm>
        <a:prstGeom prst="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Joins: INNER JOIN, LEFT JOIN, RIGHT JOIN, SELF JOIN</a:t>
          </a:r>
        </a:p>
      </dsp:txBody>
      <dsp:txXfrm>
        <a:off x="610" y="2845981"/>
        <a:ext cx="2380430" cy="1428258"/>
      </dsp:txXfrm>
    </dsp:sp>
    <dsp:sp modelId="{16841B25-04C4-4A0D-81C6-4D41918C892B}">
      <dsp:nvSpPr>
        <dsp:cNvPr id="0" name=""/>
        <dsp:cNvSpPr/>
      </dsp:nvSpPr>
      <dsp:spPr>
        <a:xfrm>
          <a:off x="2619083" y="2845981"/>
          <a:ext cx="2380430" cy="1428258"/>
        </a:xfrm>
        <a:prstGeom prst="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Data Cleaning: DISTINCT, COALESCE, NULL Handling</a:t>
          </a:r>
        </a:p>
      </dsp:txBody>
      <dsp:txXfrm>
        <a:off x="2619083" y="2845981"/>
        <a:ext cx="2380430" cy="14282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C46C61-DA3B-49CF-9B47-DA163BC765D7}">
      <dsp:nvSpPr>
        <dsp:cNvPr id="0" name=""/>
        <dsp:cNvSpPr/>
      </dsp:nvSpPr>
      <dsp:spPr>
        <a:xfrm>
          <a:off x="0" y="725359"/>
          <a:ext cx="5000124" cy="12729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Identify unique pizza categories</a:t>
          </a:r>
        </a:p>
      </dsp:txBody>
      <dsp:txXfrm>
        <a:off x="62141" y="787500"/>
        <a:ext cx="4875842" cy="1148678"/>
      </dsp:txXfrm>
    </dsp:sp>
    <dsp:sp modelId="{F7EF2C8B-5CE5-4367-BCC9-5248F0990C9C}">
      <dsp:nvSpPr>
        <dsp:cNvPr id="0" name=""/>
        <dsp:cNvSpPr/>
      </dsp:nvSpPr>
      <dsp:spPr>
        <a:xfrm>
          <a:off x="0" y="2090480"/>
          <a:ext cx="5000124" cy="1272960"/>
        </a:xfrm>
        <a:prstGeom prst="roundRec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Cleanup NULL ingredients using COALESCE</a:t>
          </a:r>
        </a:p>
      </dsp:txBody>
      <dsp:txXfrm>
        <a:off x="62141" y="2152621"/>
        <a:ext cx="4875842" cy="1148678"/>
      </dsp:txXfrm>
    </dsp:sp>
    <dsp:sp modelId="{79CB226F-FEA1-4603-A3F1-6DEBCDAB8EDE}">
      <dsp:nvSpPr>
        <dsp:cNvPr id="0" name=""/>
        <dsp:cNvSpPr/>
      </dsp:nvSpPr>
      <dsp:spPr>
        <a:xfrm>
          <a:off x="0" y="3455600"/>
          <a:ext cx="5000124" cy="127296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Find pizzas missing prices</a:t>
          </a:r>
        </a:p>
      </dsp:txBody>
      <dsp:txXfrm>
        <a:off x="62141" y="3517741"/>
        <a:ext cx="4875842" cy="11486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Tomato pizza">
            <a:extLst>
              <a:ext uri="{FF2B5EF4-FFF2-40B4-BE49-F238E27FC236}">
                <a16:creationId xmlns:a16="http://schemas.microsoft.com/office/drawing/2014/main" id="{9B671C35-4F92-6BA4-6318-F726C8C0DD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06" r="15864"/>
          <a:stretch>
            <a:fillRect/>
          </a:stretch>
        </p:blipFill>
        <p:spPr>
          <a:xfrm>
            <a:off x="1891768" y="10"/>
            <a:ext cx="7252232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300233" cy="6858000"/>
          </a:xfrm>
          <a:prstGeom prst="rect">
            <a:avLst/>
          </a:prstGeom>
          <a:gradFill>
            <a:gsLst>
              <a:gs pos="48000">
                <a:schemeClr val="tx1"/>
              </a:gs>
              <a:gs pos="35000">
                <a:schemeClr val="tx1">
                  <a:alpha val="77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4171" y="743447"/>
            <a:ext cx="2980038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4500">
                <a:solidFill>
                  <a:schemeClr val="bg1"/>
                </a:solidFill>
              </a:rPr>
              <a:t>The Great Pizza Analytics Challenge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4171" y="4629234"/>
            <a:ext cx="2980040" cy="1485319"/>
          </a:xfrm>
          <a:noFill/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200">
                <a:solidFill>
                  <a:schemeClr val="bg1"/>
                </a:solidFill>
              </a:rPr>
              <a:t>Mini SQL Project – IDC 21 Days SQL Challenge</a:t>
            </a:r>
          </a:p>
          <a:p>
            <a:pPr algn="l">
              <a:lnSpc>
                <a:spcPct val="90000"/>
              </a:lnSpc>
            </a:pPr>
            <a:r>
              <a:rPr lang="en-US" sz="2200">
                <a:solidFill>
                  <a:schemeClr val="bg1"/>
                </a:solidFill>
              </a:rPr>
              <a:t>By: Ankit Tripathi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IN" sz="350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• Analyzed complete sales workflow of IDC Pizza</a:t>
            </a:r>
          </a:p>
          <a:p>
            <a:r>
              <a:rPr lang="en-US" sz="1700"/>
              <a:t>• Used SQL to extract insights from 4 major tables:</a:t>
            </a:r>
          </a:p>
          <a:p>
            <a:r>
              <a:rPr lang="en-US" sz="1700"/>
              <a:t>  - pizza_types</a:t>
            </a:r>
          </a:p>
          <a:p>
            <a:r>
              <a:rPr lang="en-US" sz="1700"/>
              <a:t>  - pizzas</a:t>
            </a:r>
          </a:p>
          <a:p>
            <a:r>
              <a:rPr lang="en-US" sz="1700"/>
              <a:t>  - orders</a:t>
            </a:r>
          </a:p>
          <a:p>
            <a:r>
              <a:rPr lang="en-US" sz="1700"/>
              <a:t>  - order_details</a:t>
            </a:r>
          </a:p>
        </p:txBody>
      </p:sp>
      <p:pic>
        <p:nvPicPr>
          <p:cNvPr id="5" name="Picture 4" descr="Tomato pizza">
            <a:extLst>
              <a:ext uri="{FF2B5EF4-FFF2-40B4-BE49-F238E27FC236}">
                <a16:creationId xmlns:a16="http://schemas.microsoft.com/office/drawing/2014/main" id="{CE25CCE1-C26B-B2CE-7D19-E4A491E8A7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77" r="28640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Key SQL Skills Used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9243102-AC95-22B4-C404-64BA2C14A8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422377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Phase 1: Foundation &amp; Inspection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78E62B6-F2E9-9C9C-E337-64A1947ADD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4835148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595556-C814-4F1F-B0E5-71812F38A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Slices of pizza">
            <a:extLst>
              <a:ext uri="{FF2B5EF4-FFF2-40B4-BE49-F238E27FC236}">
                <a16:creationId xmlns:a16="http://schemas.microsoft.com/office/drawing/2014/main" id="{37555548-BF2E-6678-5C56-DC719DCF77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r="28334" b="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8821F7-B8C9-3F30-13E5-E934D905C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57189"/>
            <a:ext cx="3116868" cy="5571898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# Phase 1: Foundation &amp; Inspection</a:t>
            </a:r>
            <a:br>
              <a:rPr lang="en-IN" dirty="0">
                <a:solidFill>
                  <a:srgbClr val="FFFFFF"/>
                </a:solidFill>
              </a:rPr>
            </a:b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DEA55-55F4-5D5A-EDC6-9B3911DEB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9914" y="557189"/>
            <a:ext cx="4625434" cy="5571898"/>
          </a:xfrm>
        </p:spPr>
        <p:txBody>
          <a:bodyPr anchor="ctr"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IN" sz="1700" dirty="0">
                <a:solidFill>
                  <a:srgbClr val="FFFFFF"/>
                </a:solidFill>
              </a:rPr>
              <a:t> 1. List all unique pizza categories. (DISTINCT).</a:t>
            </a:r>
          </a:p>
          <a:p>
            <a:pPr>
              <a:lnSpc>
                <a:spcPct val="90000"/>
              </a:lnSpc>
            </a:pPr>
            <a:endParaRPr lang="en-IN" sz="1700" dirty="0">
              <a:solidFill>
                <a:srgbClr val="FFFFFF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IN" sz="1700" dirty="0">
                <a:solidFill>
                  <a:srgbClr val="FFFFFF"/>
                </a:solidFill>
              </a:rPr>
              <a:t>SELECT DISTINCT category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700" dirty="0">
                <a:solidFill>
                  <a:srgbClr val="FFFFFF"/>
                </a:solidFill>
              </a:rPr>
              <a:t>FROM </a:t>
            </a:r>
            <a:r>
              <a:rPr lang="en-IN" sz="1700" dirty="0" err="1">
                <a:solidFill>
                  <a:srgbClr val="FFFFFF"/>
                </a:solidFill>
              </a:rPr>
              <a:t>pizza_types</a:t>
            </a:r>
            <a:r>
              <a:rPr lang="en-IN" sz="1700" dirty="0">
                <a:solidFill>
                  <a:srgbClr val="FFFFFF"/>
                </a:solidFill>
              </a:rPr>
              <a:t>;</a:t>
            </a:r>
          </a:p>
          <a:p>
            <a:pPr>
              <a:lnSpc>
                <a:spcPct val="90000"/>
              </a:lnSpc>
            </a:pPr>
            <a:endParaRPr lang="en-IN" sz="1700" dirty="0">
              <a:solidFill>
                <a:srgbClr val="FFFFFF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IN" sz="1700" dirty="0">
                <a:solidFill>
                  <a:srgbClr val="FFFFFF"/>
                </a:solidFill>
              </a:rPr>
              <a:t>2. Display </a:t>
            </a:r>
            <a:r>
              <a:rPr lang="en-IN" sz="1700" dirty="0" err="1">
                <a:solidFill>
                  <a:srgbClr val="FFFFFF"/>
                </a:solidFill>
              </a:rPr>
              <a:t>pizza_type_id</a:t>
            </a:r>
            <a:r>
              <a:rPr lang="en-IN" sz="1700" dirty="0">
                <a:solidFill>
                  <a:srgbClr val="FFFFFF"/>
                </a:solidFill>
              </a:rPr>
              <a:t>, </a:t>
            </a:r>
            <a:r>
              <a:rPr lang="en-IN" sz="1700" dirty="0" err="1">
                <a:solidFill>
                  <a:srgbClr val="FFFFFF"/>
                </a:solidFill>
              </a:rPr>
              <a:t>name,and</a:t>
            </a:r>
            <a:r>
              <a:rPr lang="en-IN" sz="1700" dirty="0">
                <a:solidFill>
                  <a:srgbClr val="FFFFFF"/>
                </a:solidFill>
              </a:rPr>
              <a:t> </a:t>
            </a:r>
            <a:r>
              <a:rPr lang="en-IN" sz="1700" dirty="0" err="1">
                <a:solidFill>
                  <a:srgbClr val="FFFFFF"/>
                </a:solidFill>
              </a:rPr>
              <a:t>ingredients,replacing</a:t>
            </a:r>
            <a:r>
              <a:rPr lang="en-IN" sz="1700" dirty="0">
                <a:solidFill>
                  <a:srgbClr val="FFFFFF"/>
                </a:solidFill>
              </a:rPr>
              <a:t>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700" dirty="0">
                <a:solidFill>
                  <a:srgbClr val="FFFFFF"/>
                </a:solidFill>
              </a:rPr>
              <a:t>NULL ingredients with "Missing Data". Show first 5 rows.</a:t>
            </a:r>
          </a:p>
          <a:p>
            <a:pPr>
              <a:lnSpc>
                <a:spcPct val="90000"/>
              </a:lnSpc>
            </a:pPr>
            <a:endParaRPr lang="en-IN" sz="1700" dirty="0">
              <a:solidFill>
                <a:srgbClr val="FFFFFF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IN" sz="1700" dirty="0">
                <a:solidFill>
                  <a:srgbClr val="FFFFFF"/>
                </a:solidFill>
              </a:rPr>
              <a:t>SELECT 	</a:t>
            </a:r>
            <a:r>
              <a:rPr lang="en-IN" sz="1700" dirty="0" err="1">
                <a:solidFill>
                  <a:srgbClr val="FFFFFF"/>
                </a:solidFill>
              </a:rPr>
              <a:t>pizza_type_id</a:t>
            </a:r>
            <a:r>
              <a:rPr lang="en-IN" sz="1700" dirty="0">
                <a:solidFill>
                  <a:srgbClr val="FFFFFF"/>
                </a:solidFill>
              </a:rPr>
              <a:t>, name,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700" dirty="0">
                <a:solidFill>
                  <a:srgbClr val="FFFFFF"/>
                </a:solidFill>
              </a:rPr>
              <a:t>    COALESCE(ingredients, 'Missing Data') as ingredients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700" dirty="0">
                <a:solidFill>
                  <a:srgbClr val="FFFFFF"/>
                </a:solidFill>
              </a:rPr>
              <a:t>FROM </a:t>
            </a:r>
            <a:r>
              <a:rPr lang="en-IN" sz="1700" dirty="0" err="1">
                <a:solidFill>
                  <a:srgbClr val="FFFFFF"/>
                </a:solidFill>
              </a:rPr>
              <a:t>pizza_types</a:t>
            </a:r>
            <a:r>
              <a:rPr lang="en-IN" sz="1700" dirty="0">
                <a:solidFill>
                  <a:srgbClr val="FFFFFF"/>
                </a:solidFill>
              </a:rPr>
              <a:t>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700" dirty="0">
                <a:solidFill>
                  <a:srgbClr val="FFFFFF"/>
                </a:solidFill>
              </a:rPr>
              <a:t>ORDER BY </a:t>
            </a:r>
            <a:r>
              <a:rPr lang="en-IN" sz="1700" dirty="0" err="1">
                <a:solidFill>
                  <a:srgbClr val="FFFFFF"/>
                </a:solidFill>
              </a:rPr>
              <a:t>pizza_type_id</a:t>
            </a:r>
            <a:r>
              <a:rPr lang="en-IN" sz="1700" dirty="0">
                <a:solidFill>
                  <a:srgbClr val="FFFFFF"/>
                </a:solidFill>
              </a:rPr>
              <a:t> LIMIT 5;</a:t>
            </a:r>
          </a:p>
          <a:p>
            <a:pPr>
              <a:lnSpc>
                <a:spcPct val="90000"/>
              </a:lnSpc>
            </a:pPr>
            <a:endParaRPr lang="en-IN" sz="1700" dirty="0">
              <a:solidFill>
                <a:srgbClr val="FFFFFF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IN" sz="1700" dirty="0">
                <a:solidFill>
                  <a:srgbClr val="FFFFFF"/>
                </a:solidFill>
              </a:rPr>
              <a:t>3. Check for pizzas missing a price (IS NULL).</a:t>
            </a:r>
          </a:p>
          <a:p>
            <a:pPr>
              <a:lnSpc>
                <a:spcPct val="90000"/>
              </a:lnSpc>
            </a:pPr>
            <a:endParaRPr lang="en-IN" sz="1700" dirty="0">
              <a:solidFill>
                <a:srgbClr val="FFFFFF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IN" sz="1700" dirty="0">
                <a:solidFill>
                  <a:srgbClr val="FFFFFF"/>
                </a:solidFill>
              </a:rPr>
              <a:t>SELECT * FROM pizzas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700" dirty="0">
                <a:solidFill>
                  <a:srgbClr val="FFFFFF"/>
                </a:solidFill>
              </a:rPr>
              <a:t>WHERE price IS NULL;</a:t>
            </a:r>
          </a:p>
          <a:p>
            <a:pPr>
              <a:lnSpc>
                <a:spcPct val="90000"/>
              </a:lnSpc>
            </a:pPr>
            <a:endParaRPr lang="en-IN" sz="1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8022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595556-C814-4F1F-B0E5-71812F38A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Pizza in a box">
            <a:extLst>
              <a:ext uri="{FF2B5EF4-FFF2-40B4-BE49-F238E27FC236}">
                <a16:creationId xmlns:a16="http://schemas.microsoft.com/office/drawing/2014/main" id="{739FD940-D2AA-260E-F8D5-DAF7AA0AA40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11000" r="-1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3116868" cy="5571898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Phase 2: Filtering &amp;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9914" y="557189"/>
            <a:ext cx="4625434" cy="5571898"/>
          </a:xfrm>
        </p:spPr>
        <p:txBody>
          <a:bodyPr anchor="ctr">
            <a:normAutofit/>
          </a:bodyPr>
          <a:lstStyle/>
          <a:p>
            <a:r>
              <a:rPr lang="en-US" sz="1700">
                <a:solidFill>
                  <a:srgbClr val="FFFFFF"/>
                </a:solidFill>
              </a:rPr>
              <a:t>• Filter orders by date and time</a:t>
            </a:r>
          </a:p>
          <a:p>
            <a:r>
              <a:rPr lang="en-US" sz="1700">
                <a:solidFill>
                  <a:srgbClr val="FFFFFF"/>
                </a:solidFill>
              </a:rPr>
              <a:t>• Sort pizzas by price</a:t>
            </a:r>
          </a:p>
          <a:p>
            <a:r>
              <a:rPr lang="en-US" sz="1700">
                <a:solidFill>
                  <a:srgbClr val="FFFFFF"/>
                </a:solidFill>
              </a:rPr>
              <a:t>• Identify sizes L and XL</a:t>
            </a:r>
          </a:p>
          <a:p>
            <a:r>
              <a:rPr lang="en-US" sz="1700">
                <a:solidFill>
                  <a:srgbClr val="FFFFFF"/>
                </a:solidFill>
              </a:rPr>
              <a:t>• Use BETWEEN &amp; LIKE for price and name matching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688E73-49B9-4052-A836-D248C825D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6AEE0C-07FE-4154-BC7C-2F20530BC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Slices of pizza">
            <a:extLst>
              <a:ext uri="{FF2B5EF4-FFF2-40B4-BE49-F238E27FC236}">
                <a16:creationId xmlns:a16="http://schemas.microsoft.com/office/drawing/2014/main" id="{7C4A438F-BDC7-B7D5-3160-5B7502D6571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r="28334" b="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7DB405-69B3-2F3C-EF69-9EEEA78F8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557189"/>
            <a:ext cx="3866447" cy="5571899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Phase 2: Filtering &amp; Exploration</a:t>
            </a:r>
            <a:br>
              <a:rPr lang="en-IN" dirty="0">
                <a:solidFill>
                  <a:srgbClr val="FFFFFF"/>
                </a:solidFill>
              </a:rPr>
            </a:b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4EF82-0942-B8A0-9241-EB8230F8F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6531" y="557189"/>
            <a:ext cx="3868818" cy="557189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700" dirty="0">
                <a:solidFill>
                  <a:srgbClr val="FFFFFF"/>
                </a:solidFill>
              </a:rPr>
              <a:t>1. Orders placed on '2015-01-01' (`SELECT` + `WHERE`).</a:t>
            </a:r>
          </a:p>
          <a:p>
            <a:endParaRPr lang="en-IN" sz="17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IN" sz="1700" dirty="0">
                <a:solidFill>
                  <a:srgbClr val="FFFFFF"/>
                </a:solidFill>
              </a:rPr>
              <a:t>SELECT * </a:t>
            </a:r>
          </a:p>
          <a:p>
            <a:pPr marL="0" indent="0">
              <a:buNone/>
            </a:pPr>
            <a:r>
              <a:rPr lang="en-IN" sz="1700" dirty="0">
                <a:solidFill>
                  <a:srgbClr val="FFFFFF"/>
                </a:solidFill>
              </a:rPr>
              <a:t>FROM orders</a:t>
            </a:r>
          </a:p>
          <a:p>
            <a:pPr marL="0" indent="0">
              <a:buNone/>
            </a:pPr>
            <a:r>
              <a:rPr lang="en-IN" sz="1700" dirty="0">
                <a:solidFill>
                  <a:srgbClr val="FFFFFF"/>
                </a:solidFill>
              </a:rPr>
              <a:t>WHERE </a:t>
            </a:r>
            <a:r>
              <a:rPr lang="en-IN" sz="1700" dirty="0" err="1">
                <a:solidFill>
                  <a:srgbClr val="FFFFFF"/>
                </a:solidFill>
              </a:rPr>
              <a:t>order_date</a:t>
            </a:r>
            <a:r>
              <a:rPr lang="en-IN" sz="1700" dirty="0">
                <a:solidFill>
                  <a:srgbClr val="FFFFFF"/>
                </a:solidFill>
              </a:rPr>
              <a:t> = '2015-01-01';</a:t>
            </a:r>
          </a:p>
          <a:p>
            <a:endParaRPr lang="en-IN" sz="17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IN" sz="1700" dirty="0">
                <a:solidFill>
                  <a:srgbClr val="FFFFFF"/>
                </a:solidFill>
              </a:rPr>
              <a:t>2. List pizzas with price descending.</a:t>
            </a:r>
          </a:p>
          <a:p>
            <a:pPr marL="0" indent="0">
              <a:buNone/>
            </a:pPr>
            <a:r>
              <a:rPr lang="en-IN" sz="1700" dirty="0">
                <a:solidFill>
                  <a:srgbClr val="FFFFFF"/>
                </a:solidFill>
              </a:rPr>
              <a:t>SELECT </a:t>
            </a:r>
            <a:r>
              <a:rPr lang="en-IN" sz="1700" dirty="0" err="1">
                <a:solidFill>
                  <a:srgbClr val="FFFFFF"/>
                </a:solidFill>
              </a:rPr>
              <a:t>pizza_id</a:t>
            </a:r>
            <a:r>
              <a:rPr lang="en-IN" sz="1700" dirty="0">
                <a:solidFill>
                  <a:srgbClr val="FFFFFF"/>
                </a:solidFill>
              </a:rPr>
              <a:t>,   price, size</a:t>
            </a:r>
          </a:p>
          <a:p>
            <a:pPr marL="0" indent="0">
              <a:buNone/>
            </a:pPr>
            <a:r>
              <a:rPr lang="en-IN" sz="1700" dirty="0">
                <a:solidFill>
                  <a:srgbClr val="FFFFFF"/>
                </a:solidFill>
              </a:rPr>
              <a:t>FROM pizzas </a:t>
            </a:r>
          </a:p>
          <a:p>
            <a:pPr marL="0" indent="0">
              <a:buNone/>
            </a:pPr>
            <a:r>
              <a:rPr lang="en-IN" sz="1700" dirty="0">
                <a:solidFill>
                  <a:srgbClr val="FFFFFF"/>
                </a:solidFill>
              </a:rPr>
              <a:t>ORDER BY price DESC;</a:t>
            </a:r>
          </a:p>
          <a:p>
            <a:endParaRPr lang="en-IN" sz="17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IN" sz="1700" dirty="0">
                <a:solidFill>
                  <a:srgbClr val="FFFFFF"/>
                </a:solidFill>
              </a:rPr>
              <a:t>3.Pizzas sold in sizes 'L' or 'XL'.</a:t>
            </a:r>
          </a:p>
          <a:p>
            <a:pPr marL="0" indent="0">
              <a:buNone/>
            </a:pPr>
            <a:r>
              <a:rPr lang="en-IN" sz="1700" dirty="0">
                <a:solidFill>
                  <a:srgbClr val="FFFFFF"/>
                </a:solidFill>
              </a:rPr>
              <a:t>SELECT </a:t>
            </a:r>
            <a:r>
              <a:rPr lang="en-IN" sz="1700" dirty="0" err="1">
                <a:solidFill>
                  <a:srgbClr val="FFFFFF"/>
                </a:solidFill>
              </a:rPr>
              <a:t>pizza_id</a:t>
            </a:r>
            <a:r>
              <a:rPr lang="en-IN" sz="1700" dirty="0">
                <a:solidFill>
                  <a:srgbClr val="FFFFFF"/>
                </a:solidFill>
              </a:rPr>
              <a:t>,  size </a:t>
            </a:r>
          </a:p>
          <a:p>
            <a:pPr marL="0" indent="0">
              <a:buNone/>
            </a:pPr>
            <a:r>
              <a:rPr lang="en-IN" sz="1700" dirty="0">
                <a:solidFill>
                  <a:srgbClr val="FFFFFF"/>
                </a:solidFill>
              </a:rPr>
              <a:t>FROM pizzas </a:t>
            </a:r>
          </a:p>
          <a:p>
            <a:pPr marL="0" indent="0">
              <a:buNone/>
            </a:pPr>
            <a:r>
              <a:rPr lang="en-IN" sz="1700" dirty="0">
                <a:solidFill>
                  <a:srgbClr val="FFFFFF"/>
                </a:solidFill>
              </a:rPr>
              <a:t>WHERE size IN ('L', 'XL');</a:t>
            </a:r>
          </a:p>
          <a:p>
            <a:endParaRPr lang="en-IN" sz="1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5196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3F7497-ED8E-576D-C3B8-08CBC90C6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6688E73-49B9-4052-A836-D248C825D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6AEE0C-07FE-4154-BC7C-2F20530BC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Slices of pizza">
            <a:extLst>
              <a:ext uri="{FF2B5EF4-FFF2-40B4-BE49-F238E27FC236}">
                <a16:creationId xmlns:a16="http://schemas.microsoft.com/office/drawing/2014/main" id="{47170325-A92F-2B87-69EB-AB3E84D3C2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r="28334" b="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A28746-3942-9C0B-2563-4201A6A16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557189"/>
            <a:ext cx="3866447" cy="5571899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Phase 2: Filtering &amp; Exploration</a:t>
            </a:r>
            <a:br>
              <a:rPr lang="en-IN" dirty="0">
                <a:solidFill>
                  <a:srgbClr val="FFFFFF"/>
                </a:solidFill>
              </a:rPr>
            </a:b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1105B-926F-C9F5-EA4C-30D5BB12E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6531" y="147485"/>
            <a:ext cx="3868818" cy="598160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4. Pizzas priced between $15.00 and $17.00.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SELECT </a:t>
            </a:r>
            <a:r>
              <a:rPr lang="en-US" sz="1700" dirty="0" err="1">
                <a:solidFill>
                  <a:srgbClr val="FFFFFF"/>
                </a:solidFill>
              </a:rPr>
              <a:t>pizza_id</a:t>
            </a:r>
            <a:r>
              <a:rPr lang="en-US" sz="1700" dirty="0">
                <a:solidFill>
                  <a:srgbClr val="FFFFFF"/>
                </a:solidFill>
              </a:rPr>
              <a:t>,        price 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FROM pizzas 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WHERE price BETWEEN 15 AND 17;</a:t>
            </a:r>
          </a:p>
          <a:p>
            <a:endParaRPr lang="en-US" sz="17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 5. Pizzas with "Chicken" in the name.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SELECT name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FROM </a:t>
            </a:r>
            <a:r>
              <a:rPr lang="en-US" sz="1700" dirty="0" err="1">
                <a:solidFill>
                  <a:srgbClr val="FFFFFF"/>
                </a:solidFill>
              </a:rPr>
              <a:t>pizza_types</a:t>
            </a:r>
            <a:endParaRPr lang="en-US" sz="17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WHERE name like '%chicken%';</a:t>
            </a:r>
          </a:p>
          <a:p>
            <a:endParaRPr lang="en-US" sz="17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6. Orders on '2015-02-15' or placed after 8 PM.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SELECT * FROM orders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WHERE </a:t>
            </a:r>
            <a:r>
              <a:rPr lang="en-US" sz="1700" dirty="0" err="1">
                <a:solidFill>
                  <a:srgbClr val="FFFFFF"/>
                </a:solidFill>
              </a:rPr>
              <a:t>order_date</a:t>
            </a:r>
            <a:r>
              <a:rPr lang="en-US" sz="1700" dirty="0">
                <a:solidFill>
                  <a:srgbClr val="FFFFFF"/>
                </a:solidFill>
              </a:rPr>
              <a:t> ='2015-02-15'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      OR HOUR(</a:t>
            </a:r>
            <a:r>
              <a:rPr lang="en-US" sz="1700" dirty="0" err="1">
                <a:solidFill>
                  <a:srgbClr val="FFFFFF"/>
                </a:solidFill>
              </a:rPr>
              <a:t>order_time</a:t>
            </a:r>
            <a:r>
              <a:rPr lang="en-US" sz="1700" dirty="0">
                <a:solidFill>
                  <a:srgbClr val="FFFFFF"/>
                </a:solidFill>
              </a:rPr>
              <a:t>) &gt;20;</a:t>
            </a:r>
            <a:endParaRPr lang="en-IN" sz="1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0951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omato pizza">
            <a:extLst>
              <a:ext uri="{FF2B5EF4-FFF2-40B4-BE49-F238E27FC236}">
                <a16:creationId xmlns:a16="http://schemas.microsoft.com/office/drawing/2014/main" id="{29B46BE7-969B-A9C2-0015-5D579E979A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06" r="15864"/>
          <a:stretch>
            <a:fillRect/>
          </a:stretch>
        </p:blipFill>
        <p:spPr>
          <a:xfrm>
            <a:off x="1891767" y="10"/>
            <a:ext cx="7252231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2866641" cy="1899912"/>
          </a:xfrm>
        </p:spPr>
        <p:txBody>
          <a:bodyPr>
            <a:normAutofit/>
          </a:bodyPr>
          <a:lstStyle/>
          <a:p>
            <a:r>
              <a:rPr lang="en-IN" sz="3500"/>
              <a:t>Phase 3: Sales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34201"/>
            <a:ext cx="2866641" cy="3742762"/>
          </a:xfrm>
        </p:spPr>
        <p:txBody>
          <a:bodyPr>
            <a:normAutofit/>
          </a:bodyPr>
          <a:lstStyle/>
          <a:p>
            <a:r>
              <a:rPr lang="en-US" sz="1700"/>
              <a:t>• Calculate total pizzas sold</a:t>
            </a:r>
          </a:p>
          <a:p>
            <a:r>
              <a:rPr lang="en-US" sz="1700"/>
              <a:t>• Compute average prices</a:t>
            </a:r>
          </a:p>
          <a:p>
            <a:r>
              <a:rPr lang="en-US" sz="1700"/>
              <a:t>• Build revenue per order using JOIN + GROUP BY</a:t>
            </a:r>
          </a:p>
          <a:p>
            <a:r>
              <a:rPr lang="en-US" sz="1700"/>
              <a:t>• Find category-wise sales performance</a:t>
            </a:r>
          </a:p>
          <a:p>
            <a:r>
              <a:rPr lang="en-US" sz="1700"/>
              <a:t>• Identify pizzas never ordered</a:t>
            </a:r>
          </a:p>
          <a:p>
            <a:r>
              <a:rPr lang="en-US" sz="1700"/>
              <a:t>• Compare prices via SELF JOIN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C0E741-87E0-B68C-6697-C99D6B9DE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E9E5B43-86EC-CC98-9B59-DB9313632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92DBB0-901D-9F9E-4712-67AE1EEEB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Slices of pizza">
            <a:extLst>
              <a:ext uri="{FF2B5EF4-FFF2-40B4-BE49-F238E27FC236}">
                <a16:creationId xmlns:a16="http://schemas.microsoft.com/office/drawing/2014/main" id="{D430298C-26AA-7AC6-4F08-69D093C1179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r="28334" b="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F088FB-488D-E8C3-C78C-BA341814E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557189"/>
            <a:ext cx="3866447" cy="557189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Phase 3: Sales Performance</a:t>
            </a:r>
            <a:br>
              <a:rPr lang="en-US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2506F-32DD-EEC3-8FF5-71C3A39CC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6531" y="117987"/>
            <a:ext cx="3868818" cy="661711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1. Total quantity of pizzas sold (SUM).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SELECT SUM(quantity) AS </a:t>
            </a:r>
            <a:r>
              <a:rPr lang="en-US" sz="1800" dirty="0" err="1">
                <a:solidFill>
                  <a:schemeClr val="bg1"/>
                </a:solidFill>
              </a:rPr>
              <a:t>total_sales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FROM </a:t>
            </a:r>
            <a:r>
              <a:rPr lang="en-US" sz="1800" dirty="0" err="1">
                <a:solidFill>
                  <a:schemeClr val="bg1"/>
                </a:solidFill>
              </a:rPr>
              <a:t>order_details</a:t>
            </a:r>
            <a:r>
              <a:rPr lang="en-US" sz="1800" dirty="0">
                <a:solidFill>
                  <a:schemeClr val="bg1"/>
                </a:solidFill>
              </a:rPr>
              <a:t>;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 2.Average pizza price (AVG).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SELECT ROUND(AVG(price),2) AS </a:t>
            </a:r>
            <a:r>
              <a:rPr lang="en-US" sz="1800" dirty="0" err="1">
                <a:solidFill>
                  <a:schemeClr val="bg1"/>
                </a:solidFill>
              </a:rPr>
              <a:t>avg_price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FROM pizzas;</a:t>
            </a:r>
            <a:endParaRPr lang="en-US" sz="1700" dirty="0">
              <a:solidFill>
                <a:schemeClr val="bg1"/>
              </a:solidFill>
            </a:endParaRPr>
          </a:p>
          <a:p>
            <a:endParaRPr lang="en-US" sz="17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3.Total order value per order (JOIN, SUM, GROUP BY).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SELECT </a:t>
            </a:r>
            <a:r>
              <a:rPr lang="en-US" sz="1700" dirty="0" err="1">
                <a:solidFill>
                  <a:srgbClr val="FFFFFF"/>
                </a:solidFill>
              </a:rPr>
              <a:t>od.order_id</a:t>
            </a:r>
            <a:r>
              <a:rPr lang="en-US" sz="1700" dirty="0">
                <a:solidFill>
                  <a:srgbClr val="FFFFFF"/>
                </a:solidFill>
              </a:rPr>
              <a:t>,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     SUM(</a:t>
            </a:r>
            <a:r>
              <a:rPr lang="en-US" sz="1700" dirty="0" err="1">
                <a:solidFill>
                  <a:srgbClr val="FFFFFF"/>
                </a:solidFill>
              </a:rPr>
              <a:t>od.quantity</a:t>
            </a:r>
            <a:r>
              <a:rPr lang="en-US" sz="1700" dirty="0">
                <a:solidFill>
                  <a:srgbClr val="FFFFFF"/>
                </a:solidFill>
              </a:rPr>
              <a:t> * </a:t>
            </a:r>
            <a:r>
              <a:rPr lang="en-US" sz="1700" dirty="0" err="1">
                <a:solidFill>
                  <a:srgbClr val="FFFFFF"/>
                </a:solidFill>
              </a:rPr>
              <a:t>p.price</a:t>
            </a:r>
            <a:r>
              <a:rPr lang="en-US" sz="1700" dirty="0">
                <a:solidFill>
                  <a:srgbClr val="FFFFFF"/>
                </a:solidFill>
              </a:rPr>
              <a:t>) AS </a:t>
            </a:r>
            <a:r>
              <a:rPr lang="en-US" sz="1700" dirty="0" err="1">
                <a:solidFill>
                  <a:srgbClr val="FFFFFF"/>
                </a:solidFill>
              </a:rPr>
              <a:t>Total_order_value</a:t>
            </a:r>
            <a:endParaRPr lang="en-US" sz="17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FROM pizzas p 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     JOIN </a:t>
            </a:r>
            <a:r>
              <a:rPr lang="en-US" sz="1700" dirty="0" err="1">
                <a:solidFill>
                  <a:srgbClr val="FFFFFF"/>
                </a:solidFill>
              </a:rPr>
              <a:t>order_details</a:t>
            </a:r>
            <a:r>
              <a:rPr lang="en-US" sz="1700" dirty="0">
                <a:solidFill>
                  <a:srgbClr val="FFFFFF"/>
                </a:solidFill>
              </a:rPr>
              <a:t> od 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     ON </a:t>
            </a:r>
            <a:r>
              <a:rPr lang="en-US" sz="1700" dirty="0" err="1">
                <a:solidFill>
                  <a:srgbClr val="FFFFFF"/>
                </a:solidFill>
              </a:rPr>
              <a:t>p.pizza_id</a:t>
            </a:r>
            <a:r>
              <a:rPr lang="en-US" sz="1700" dirty="0">
                <a:solidFill>
                  <a:srgbClr val="FFFFFF"/>
                </a:solidFill>
              </a:rPr>
              <a:t> = </a:t>
            </a:r>
            <a:r>
              <a:rPr lang="en-US" sz="1700" dirty="0" err="1">
                <a:solidFill>
                  <a:srgbClr val="FFFFFF"/>
                </a:solidFill>
              </a:rPr>
              <a:t>od.pizza_id</a:t>
            </a:r>
            <a:endParaRPr lang="en-US" sz="17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GROUP BY </a:t>
            </a:r>
            <a:r>
              <a:rPr lang="en-US" sz="1700" dirty="0" err="1">
                <a:solidFill>
                  <a:srgbClr val="FFFFFF"/>
                </a:solidFill>
              </a:rPr>
              <a:t>od.order_id</a:t>
            </a:r>
            <a:endParaRPr lang="en-US" sz="17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ORDER BY </a:t>
            </a:r>
            <a:r>
              <a:rPr lang="en-US" sz="1700" dirty="0" err="1">
                <a:solidFill>
                  <a:srgbClr val="FFFFFF"/>
                </a:solidFill>
              </a:rPr>
              <a:t>Total_order_value</a:t>
            </a:r>
            <a:r>
              <a:rPr lang="en-US" sz="1700" dirty="0">
                <a:solidFill>
                  <a:srgbClr val="FFFFFF"/>
                </a:solidFill>
              </a:rPr>
              <a:t> DESC;</a:t>
            </a:r>
          </a:p>
          <a:p>
            <a:pPr marL="0" indent="0">
              <a:buNone/>
            </a:pPr>
            <a:endParaRPr lang="en-US" sz="1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2072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F8E0A0-5BAC-77A9-75FE-627F7671A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144385D-C1E2-1186-1775-691C52D08D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B39B47-A131-C4A5-5589-D762CBF2D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Slices of pizza">
            <a:extLst>
              <a:ext uri="{FF2B5EF4-FFF2-40B4-BE49-F238E27FC236}">
                <a16:creationId xmlns:a16="http://schemas.microsoft.com/office/drawing/2014/main" id="{C22299C8-DD67-A0C2-E250-3B4B1FDD435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r="28334" b="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71A075-1EFE-8965-5936-7B88D9203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557189"/>
            <a:ext cx="3866447" cy="557189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Phase 3: Sales Performance</a:t>
            </a:r>
            <a:br>
              <a:rPr lang="en-US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B3F4C-210A-9A68-9E69-0DF33CECC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8206" y="117987"/>
            <a:ext cx="4307143" cy="6617110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4. Total quantity sold per pizza category (JOIN, GROUP BY).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SELECT </a:t>
            </a:r>
            <a:r>
              <a:rPr lang="en-US" sz="1800" dirty="0" err="1">
                <a:solidFill>
                  <a:schemeClr val="bg1"/>
                </a:solidFill>
              </a:rPr>
              <a:t>pt.category</a:t>
            </a:r>
            <a:r>
              <a:rPr lang="en-US" sz="1800" dirty="0">
                <a:solidFill>
                  <a:schemeClr val="bg1"/>
                </a:solidFill>
              </a:rPr>
              <a:t>, SUM(</a:t>
            </a:r>
            <a:r>
              <a:rPr lang="en-US" sz="1800" dirty="0" err="1">
                <a:solidFill>
                  <a:schemeClr val="bg1"/>
                </a:solidFill>
              </a:rPr>
              <a:t>o.quantity</a:t>
            </a:r>
            <a:r>
              <a:rPr lang="en-US" sz="1800" dirty="0">
                <a:solidFill>
                  <a:schemeClr val="bg1"/>
                </a:solidFill>
              </a:rPr>
              <a:t>) AS </a:t>
            </a:r>
            <a:r>
              <a:rPr lang="en-US" sz="1800" dirty="0" err="1">
                <a:solidFill>
                  <a:schemeClr val="bg1"/>
                </a:solidFill>
              </a:rPr>
              <a:t>Total_Qty_sold</a:t>
            </a:r>
            <a:r>
              <a:rPr lang="en-US" sz="1800" dirty="0">
                <a:solidFill>
                  <a:schemeClr val="bg1"/>
                </a:solidFill>
              </a:rPr>
              <a:t> FROM </a:t>
            </a:r>
            <a:r>
              <a:rPr lang="en-US" sz="1800" dirty="0" err="1">
                <a:solidFill>
                  <a:schemeClr val="bg1"/>
                </a:solidFill>
              </a:rPr>
              <a:t>pizza_types</a:t>
            </a:r>
            <a:r>
              <a:rPr lang="en-US" sz="1800" dirty="0">
                <a:solidFill>
                  <a:schemeClr val="bg1"/>
                </a:solidFill>
              </a:rPr>
              <a:t> pt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  JOIN pizzas p ON </a:t>
            </a:r>
            <a:r>
              <a:rPr lang="en-US" sz="1800" dirty="0" err="1">
                <a:solidFill>
                  <a:schemeClr val="bg1"/>
                </a:solidFill>
              </a:rPr>
              <a:t>p.pizza_type_id</a:t>
            </a:r>
            <a:r>
              <a:rPr lang="en-US" sz="1800" dirty="0">
                <a:solidFill>
                  <a:schemeClr val="bg1"/>
                </a:solidFill>
              </a:rPr>
              <a:t> = </a:t>
            </a:r>
            <a:r>
              <a:rPr lang="en-US" sz="1800" dirty="0" err="1">
                <a:solidFill>
                  <a:schemeClr val="bg1"/>
                </a:solidFill>
              </a:rPr>
              <a:t>pt.pizza_type_id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     JOIN </a:t>
            </a:r>
            <a:r>
              <a:rPr lang="en-US" sz="1800" dirty="0" err="1">
                <a:solidFill>
                  <a:schemeClr val="bg1"/>
                </a:solidFill>
              </a:rPr>
              <a:t>order_details</a:t>
            </a:r>
            <a:r>
              <a:rPr lang="en-US" sz="1800" dirty="0">
                <a:solidFill>
                  <a:schemeClr val="bg1"/>
                </a:solidFill>
              </a:rPr>
              <a:t> o ON </a:t>
            </a:r>
            <a:r>
              <a:rPr lang="en-US" sz="1800" dirty="0" err="1">
                <a:solidFill>
                  <a:schemeClr val="bg1"/>
                </a:solidFill>
              </a:rPr>
              <a:t>p.pizza_id</a:t>
            </a:r>
            <a:r>
              <a:rPr lang="en-US" sz="1800" dirty="0">
                <a:solidFill>
                  <a:schemeClr val="bg1"/>
                </a:solidFill>
              </a:rPr>
              <a:t> =</a:t>
            </a:r>
            <a:r>
              <a:rPr lang="en-US" sz="1800" dirty="0" err="1">
                <a:solidFill>
                  <a:schemeClr val="bg1"/>
                </a:solidFill>
              </a:rPr>
              <a:t>o.pizza_id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GROUP BY </a:t>
            </a:r>
            <a:r>
              <a:rPr lang="en-US" sz="1800" dirty="0" err="1">
                <a:solidFill>
                  <a:schemeClr val="bg1"/>
                </a:solidFill>
              </a:rPr>
              <a:t>pt.category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ORDER BY </a:t>
            </a:r>
            <a:r>
              <a:rPr lang="en-US" sz="1800" dirty="0" err="1">
                <a:solidFill>
                  <a:schemeClr val="bg1"/>
                </a:solidFill>
              </a:rPr>
              <a:t>Total_Qty_sold</a:t>
            </a:r>
            <a:r>
              <a:rPr lang="en-US" sz="1800" dirty="0">
                <a:solidFill>
                  <a:schemeClr val="bg1"/>
                </a:solidFill>
              </a:rPr>
              <a:t> DESC;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5.Categories with more than 5,000 pizzas sold (HAVING).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SELECT </a:t>
            </a:r>
            <a:r>
              <a:rPr lang="en-US" sz="1800" dirty="0" err="1">
                <a:solidFill>
                  <a:schemeClr val="bg1"/>
                </a:solidFill>
              </a:rPr>
              <a:t>pt.category</a:t>
            </a:r>
            <a:r>
              <a:rPr lang="en-US" sz="1800" dirty="0">
                <a:solidFill>
                  <a:schemeClr val="bg1"/>
                </a:solidFill>
              </a:rPr>
              <a:t>,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       SUM(</a:t>
            </a:r>
            <a:r>
              <a:rPr lang="en-US" sz="1800" dirty="0" err="1">
                <a:solidFill>
                  <a:schemeClr val="bg1"/>
                </a:solidFill>
              </a:rPr>
              <a:t>o.quantity</a:t>
            </a:r>
            <a:r>
              <a:rPr lang="en-US" sz="1800" dirty="0">
                <a:solidFill>
                  <a:schemeClr val="bg1"/>
                </a:solidFill>
              </a:rPr>
              <a:t>) AS </a:t>
            </a:r>
            <a:r>
              <a:rPr lang="en-US" sz="1800" dirty="0" err="1">
                <a:solidFill>
                  <a:schemeClr val="bg1"/>
                </a:solidFill>
              </a:rPr>
              <a:t>Total_Qty_sold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FROM </a:t>
            </a:r>
            <a:r>
              <a:rPr lang="en-US" sz="1800" dirty="0" err="1">
                <a:solidFill>
                  <a:schemeClr val="bg1"/>
                </a:solidFill>
              </a:rPr>
              <a:t>pizza_types</a:t>
            </a:r>
            <a:r>
              <a:rPr lang="en-US" sz="1800" dirty="0">
                <a:solidFill>
                  <a:schemeClr val="bg1"/>
                </a:solidFill>
              </a:rPr>
              <a:t> pt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    JOIN pizzas p ON </a:t>
            </a:r>
            <a:r>
              <a:rPr lang="en-US" sz="1800" dirty="0" err="1">
                <a:solidFill>
                  <a:schemeClr val="bg1"/>
                </a:solidFill>
              </a:rPr>
              <a:t>p.pizza_type_id</a:t>
            </a:r>
            <a:r>
              <a:rPr lang="en-US" sz="1800" dirty="0">
                <a:solidFill>
                  <a:schemeClr val="bg1"/>
                </a:solidFill>
              </a:rPr>
              <a:t> = </a:t>
            </a:r>
            <a:r>
              <a:rPr lang="en-US" sz="1800" dirty="0" err="1">
                <a:solidFill>
                  <a:schemeClr val="bg1"/>
                </a:solidFill>
              </a:rPr>
              <a:t>pt.pizza_type_id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    JOIN </a:t>
            </a:r>
            <a:r>
              <a:rPr lang="en-US" sz="1800" dirty="0" err="1">
                <a:solidFill>
                  <a:schemeClr val="bg1"/>
                </a:solidFill>
              </a:rPr>
              <a:t>order_details</a:t>
            </a:r>
            <a:r>
              <a:rPr lang="en-US" sz="1800" dirty="0">
                <a:solidFill>
                  <a:schemeClr val="bg1"/>
                </a:solidFill>
              </a:rPr>
              <a:t> o ON </a:t>
            </a:r>
            <a:r>
              <a:rPr lang="en-US" sz="1800" dirty="0" err="1">
                <a:solidFill>
                  <a:schemeClr val="bg1"/>
                </a:solidFill>
              </a:rPr>
              <a:t>p.pizza_id</a:t>
            </a:r>
            <a:r>
              <a:rPr lang="en-US" sz="1800" dirty="0">
                <a:solidFill>
                  <a:schemeClr val="bg1"/>
                </a:solidFill>
              </a:rPr>
              <a:t> =</a:t>
            </a:r>
            <a:r>
              <a:rPr lang="en-US" sz="1800" dirty="0" err="1">
                <a:solidFill>
                  <a:schemeClr val="bg1"/>
                </a:solidFill>
              </a:rPr>
              <a:t>o.pizza_id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GROUP BY </a:t>
            </a:r>
            <a:r>
              <a:rPr lang="en-US" sz="1800" dirty="0" err="1">
                <a:solidFill>
                  <a:schemeClr val="bg1"/>
                </a:solidFill>
              </a:rPr>
              <a:t>pt.category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HAVING SUM(</a:t>
            </a:r>
            <a:r>
              <a:rPr lang="en-US" sz="1800" dirty="0" err="1">
                <a:solidFill>
                  <a:schemeClr val="bg1"/>
                </a:solidFill>
              </a:rPr>
              <a:t>o.quantity</a:t>
            </a:r>
            <a:r>
              <a:rPr lang="en-US" sz="1800" dirty="0">
                <a:solidFill>
                  <a:schemeClr val="bg1"/>
                </a:solidFill>
              </a:rPr>
              <a:t>)&gt;5000;</a:t>
            </a:r>
          </a:p>
          <a:p>
            <a:pPr marL="0" indent="0">
              <a:buNone/>
            </a:pPr>
            <a:endParaRPr lang="en-US" sz="1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7387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E5905-082E-34BE-A37B-BF6CF7565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53A1BB8-013D-E5BD-711B-BEAF97202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30371B-188E-43AC-F43B-ECD35D9EC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Slices of pizza">
            <a:extLst>
              <a:ext uri="{FF2B5EF4-FFF2-40B4-BE49-F238E27FC236}">
                <a16:creationId xmlns:a16="http://schemas.microsoft.com/office/drawing/2014/main" id="{B7A1D470-D82A-106B-2C1D-FAAF8F1B38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r="28334" b="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12BACF-0B3C-7706-DC4E-8943BBE09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557189"/>
            <a:ext cx="3866447" cy="557189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Phase 3: Sales Performance</a:t>
            </a:r>
            <a:br>
              <a:rPr lang="en-US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8C6C0-CAAF-4A07-3210-90969EA21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8206" y="117987"/>
            <a:ext cx="4307143" cy="661711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6.Pizzas never ordered (LEFT/RIGHT JOIN).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SELECT </a:t>
            </a:r>
            <a:r>
              <a:rPr lang="en-US" sz="1800" dirty="0" err="1">
                <a:solidFill>
                  <a:schemeClr val="bg1"/>
                </a:solidFill>
              </a:rPr>
              <a:t>p.pizza_id</a:t>
            </a:r>
            <a:r>
              <a:rPr lang="en-US" sz="1800" dirty="0">
                <a:solidFill>
                  <a:schemeClr val="bg1"/>
                </a:solidFill>
              </a:rPr>
              <a:t>,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       </a:t>
            </a:r>
            <a:r>
              <a:rPr lang="en-US" sz="1800" dirty="0" err="1">
                <a:solidFill>
                  <a:schemeClr val="bg1"/>
                </a:solidFill>
              </a:rPr>
              <a:t>p.size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       </a:t>
            </a:r>
            <a:r>
              <a:rPr lang="en-US" sz="1800" dirty="0" err="1">
                <a:solidFill>
                  <a:schemeClr val="bg1"/>
                </a:solidFill>
              </a:rPr>
              <a:t>pt.category</a:t>
            </a:r>
            <a:r>
              <a:rPr lang="en-US" sz="1800" dirty="0">
                <a:solidFill>
                  <a:schemeClr val="bg1"/>
                </a:solidFill>
              </a:rPr>
              <a:t>,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       </a:t>
            </a:r>
            <a:r>
              <a:rPr lang="en-US" sz="1800" dirty="0" err="1">
                <a:solidFill>
                  <a:schemeClr val="bg1"/>
                </a:solidFill>
              </a:rPr>
              <a:t>od.order_id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FROM pizzas p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     LEFT JOIN </a:t>
            </a:r>
            <a:r>
              <a:rPr lang="en-US" sz="1800" dirty="0" err="1">
                <a:solidFill>
                  <a:schemeClr val="bg1"/>
                </a:solidFill>
              </a:rPr>
              <a:t>order_details</a:t>
            </a:r>
            <a:r>
              <a:rPr lang="en-US" sz="1800" dirty="0">
                <a:solidFill>
                  <a:schemeClr val="bg1"/>
                </a:solidFill>
              </a:rPr>
              <a:t> od ON </a:t>
            </a:r>
            <a:r>
              <a:rPr lang="en-US" sz="1800" dirty="0" err="1">
                <a:solidFill>
                  <a:schemeClr val="bg1"/>
                </a:solidFill>
              </a:rPr>
              <a:t>p.pizza_id</a:t>
            </a:r>
            <a:r>
              <a:rPr lang="en-US" sz="1800" dirty="0">
                <a:solidFill>
                  <a:schemeClr val="bg1"/>
                </a:solidFill>
              </a:rPr>
              <a:t> = </a:t>
            </a:r>
            <a:r>
              <a:rPr lang="en-US" sz="1800" dirty="0" err="1">
                <a:solidFill>
                  <a:schemeClr val="bg1"/>
                </a:solidFill>
              </a:rPr>
              <a:t>od.pizza_id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     LEFT JOIN </a:t>
            </a:r>
            <a:r>
              <a:rPr lang="en-US" sz="1800" dirty="0" err="1">
                <a:solidFill>
                  <a:schemeClr val="bg1"/>
                </a:solidFill>
              </a:rPr>
              <a:t>pizza_types</a:t>
            </a:r>
            <a:r>
              <a:rPr lang="en-US" sz="1800" dirty="0">
                <a:solidFill>
                  <a:schemeClr val="bg1"/>
                </a:solidFill>
              </a:rPr>
              <a:t> pt ON </a:t>
            </a:r>
            <a:r>
              <a:rPr lang="en-US" sz="1800" dirty="0" err="1">
                <a:solidFill>
                  <a:schemeClr val="bg1"/>
                </a:solidFill>
              </a:rPr>
              <a:t>pt.pizza_type_id</a:t>
            </a:r>
            <a:r>
              <a:rPr lang="en-US" sz="1800" dirty="0">
                <a:solidFill>
                  <a:schemeClr val="bg1"/>
                </a:solidFill>
              </a:rPr>
              <a:t> = </a:t>
            </a:r>
            <a:r>
              <a:rPr lang="en-US" sz="1800" dirty="0" err="1">
                <a:solidFill>
                  <a:schemeClr val="bg1"/>
                </a:solidFill>
              </a:rPr>
              <a:t>p.pizza_type_id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WHERE </a:t>
            </a:r>
            <a:r>
              <a:rPr lang="en-US" sz="1800" dirty="0" err="1">
                <a:solidFill>
                  <a:schemeClr val="bg1"/>
                </a:solidFill>
              </a:rPr>
              <a:t>order_id</a:t>
            </a:r>
            <a:r>
              <a:rPr lang="en-US" sz="1800" dirty="0">
                <a:solidFill>
                  <a:schemeClr val="bg1"/>
                </a:solidFill>
              </a:rPr>
              <a:t> IS NULL;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9085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BA6F6B-9FEB-DC1C-237A-0FEE01C0A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1C779D0-5BD8-0FF3-EF51-2C04F4E6F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E7B501-57DB-389B-6D6D-F4D0524CDA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Slices of pizza">
            <a:extLst>
              <a:ext uri="{FF2B5EF4-FFF2-40B4-BE49-F238E27FC236}">
                <a16:creationId xmlns:a16="http://schemas.microsoft.com/office/drawing/2014/main" id="{5DC4468D-9DA9-AA64-9735-6CF5A388847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r="28334" b="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75A8EC-F8FB-1609-EB16-AD6498B36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557189"/>
            <a:ext cx="3866447" cy="557189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Phase 3: Sales Performance</a:t>
            </a:r>
            <a:br>
              <a:rPr lang="en-US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37E8D-1365-963A-6656-71EDA38BA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8206" y="117987"/>
            <a:ext cx="4307143" cy="661711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7. Price differences between different sizes of the same pizza (SELF JOIN).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SELECT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    p1.pizza_type_id,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    p1.size  AS size_1,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    p1.price AS price_1,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    p2.size  AS size_2,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    p2.price AS price_2,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    (p2.price - p1.price) AS </a:t>
            </a:r>
            <a:r>
              <a:rPr lang="en-US" sz="1800" dirty="0" err="1">
                <a:solidFill>
                  <a:schemeClr val="bg1"/>
                </a:solidFill>
              </a:rPr>
              <a:t>price_difference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FROM pizzas p1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JOIN pizzas p2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ON p1.pizza_type_id = p2.pizza_type_id AND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p1.size != p2.size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ORDER BY p1.pizza_type_id;</a:t>
            </a:r>
          </a:p>
          <a:p>
            <a:pPr marL="0" indent="0">
              <a:buNone/>
            </a:pPr>
            <a:endParaRPr lang="en-US" sz="1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740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B76B7E-D902-26FD-CEF9-908FC67B8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8C83992-5E4A-89CB-AED1-7D6BAF419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Tomato pizza">
            <a:extLst>
              <a:ext uri="{FF2B5EF4-FFF2-40B4-BE49-F238E27FC236}">
                <a16:creationId xmlns:a16="http://schemas.microsoft.com/office/drawing/2014/main" id="{46B340C7-596E-4BC4-1E01-1688501F20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06" r="15864"/>
          <a:stretch>
            <a:fillRect/>
          </a:stretch>
        </p:blipFill>
        <p:spPr>
          <a:xfrm>
            <a:off x="1891768" y="10"/>
            <a:ext cx="7252232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9627895-A188-9E57-5D2E-16EFCA392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300233" cy="6858000"/>
          </a:xfrm>
          <a:prstGeom prst="rect">
            <a:avLst/>
          </a:prstGeom>
          <a:gradFill>
            <a:gsLst>
              <a:gs pos="48000">
                <a:schemeClr val="tx1"/>
              </a:gs>
              <a:gs pos="35000">
                <a:schemeClr val="tx1">
                  <a:alpha val="77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7385C1-FC21-E270-3524-337E2D2305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171" y="743447"/>
            <a:ext cx="4752564" cy="623237"/>
          </a:xfrm>
          <a:noFill/>
        </p:spPr>
        <p:txBody>
          <a:bodyPr>
            <a:normAutofit fontScale="90000"/>
          </a:bodyPr>
          <a:lstStyle/>
          <a:p>
            <a:pPr algn="l"/>
            <a:r>
              <a:rPr lang="en-IN" sz="4800" dirty="0">
                <a:solidFill>
                  <a:schemeClr val="bg1"/>
                </a:solidFill>
              </a:rPr>
              <a:t>Key Insights</a:t>
            </a:r>
            <a:endParaRPr lang="en-US" sz="45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B0BF20-609B-FB04-68B7-7F7C8B606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5510"/>
            <a:ext cx="3694211" cy="4679043"/>
          </a:xfrm>
          <a:noFill/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• Cleaned and structured dataset for accurate analysis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• Identified customer patterns using date/time filters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• Found best &amp; poor-performing categories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• Complete multi-table SQL analysis workflow</a:t>
            </a:r>
          </a:p>
          <a:p>
            <a:pPr algn="l">
              <a:lnSpc>
                <a:spcPct val="90000"/>
              </a:lnSpc>
            </a:pPr>
            <a:endParaRPr lang="en-US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270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4C4172-FF37-16D4-BC37-89F24BE1F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E4EE57-F9D0-8477-68DD-29BE063826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1" y="643467"/>
            <a:ext cx="3465438" cy="4567137"/>
          </a:xfrm>
        </p:spPr>
        <p:txBody>
          <a:bodyPr>
            <a:normAutofit/>
          </a:bodyPr>
          <a:lstStyle/>
          <a:p>
            <a:pPr algn="l"/>
            <a:r>
              <a:rPr lang="en-IN" sz="4800" b="1" dirty="0"/>
              <a:t>Thank You</a:t>
            </a:r>
            <a:endParaRPr lang="en-US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AEA16-2C87-19AF-8285-A77A7FF92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5277684"/>
            <a:ext cx="3465438" cy="775494"/>
          </a:xfrm>
        </p:spPr>
        <p:txBody>
          <a:bodyPr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Project By Ankit Tripathi</a:t>
            </a:r>
          </a:p>
        </p:txBody>
      </p:sp>
      <p:pic>
        <p:nvPicPr>
          <p:cNvPr id="5" name="Picture 4" descr="Tomato pizza">
            <a:extLst>
              <a:ext uri="{FF2B5EF4-FFF2-40B4-BE49-F238E27FC236}">
                <a16:creationId xmlns:a16="http://schemas.microsoft.com/office/drawing/2014/main" id="{CCAFCD68-CECB-3777-BF6C-B216D84BF9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33" r="29191"/>
          <a:stretch>
            <a:fillRect/>
          </a:stretch>
        </p:blipFill>
        <p:spPr>
          <a:xfrm>
            <a:off x="4671911" y="10"/>
            <a:ext cx="4472089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08826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1044</Words>
  <Application>Microsoft Office PowerPoint</Application>
  <PresentationFormat>On-screen Show (4:3)</PresentationFormat>
  <Paragraphs>147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The Great Pizza Analytics Challenge</vt:lpstr>
      <vt:lpstr>Project Overview</vt:lpstr>
      <vt:lpstr>Key SQL Skills Used</vt:lpstr>
      <vt:lpstr>Phase 1: Foundation &amp; Inspection</vt:lpstr>
      <vt:lpstr># Phase 1: Foundation &amp; Inspection </vt:lpstr>
      <vt:lpstr>Phase 2: Filtering &amp; Exploration</vt:lpstr>
      <vt:lpstr>Phase 2: Filtering &amp; Exploration </vt:lpstr>
      <vt:lpstr>Phase 2: Filtering &amp; Exploration </vt:lpstr>
      <vt:lpstr>Phase 3: Sales Performance</vt:lpstr>
      <vt:lpstr>Phase 3: Sales Performance </vt:lpstr>
      <vt:lpstr>Phase 3: Sales Performance </vt:lpstr>
      <vt:lpstr>Phase 3: Sales Performance </vt:lpstr>
      <vt:lpstr>Phase 3: Sales Performance </vt:lpstr>
      <vt:lpstr>Key Insights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ankit tripathi</dc:creator>
  <cp:keywords/>
  <dc:description>generated using python-pptx</dc:description>
  <cp:lastModifiedBy>ANKIT TRIPATHI</cp:lastModifiedBy>
  <cp:revision>2</cp:revision>
  <dcterms:created xsi:type="dcterms:W3CDTF">2013-01-27T09:14:16Z</dcterms:created>
  <dcterms:modified xsi:type="dcterms:W3CDTF">2025-11-20T19:39:22Z</dcterms:modified>
  <cp:category/>
</cp:coreProperties>
</file>